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9" r:id="rId1"/>
    <p:sldMasterId id="2147483680" r:id="rId2"/>
    <p:sldMasterId id="2147483681" r:id="rId3"/>
  </p:sldMasterIdLst>
  <p:notesMasterIdLst>
    <p:notesMasterId r:id="rId1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6" r:id="rId11"/>
    <p:sldId id="267" r:id="rId12"/>
    <p:sldId id="268" r:id="rId13"/>
    <p:sldId id="263" r:id="rId14"/>
    <p:sldId id="265" r:id="rId1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A1CCC24-04E4-4BCC-941A-B907F5E8BBCD}">
  <a:tblStyle styleId="{6A1CCC24-04E4-4BCC-941A-B907F5E8BBC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99" d="100"/>
          <a:sy n="199" d="100"/>
        </p:scale>
        <p:origin x="684" y="150"/>
      </p:cViewPr>
      <p:guideLst>
        <p:guide pos="5533"/>
        <p:guide pos="397"/>
        <p:guide orient="horz" pos="3240"/>
        <p:guide orient="horz"/>
        <p:guide orient="horz" pos="5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лок текст + картинка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495300" y="1493850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pic>
        <p:nvPicPr>
          <p:cNvPr id="71" name="Google Shape;7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47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Цитата, фон градиент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этапы процесса">
  <p:cSld name="CUSTOM_5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7" name="Google Shape;77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" name="Google Shape;82;p19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" name="Google Shape;83;p19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" name="Google Shape;84;p19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9"/>
          <p:cNvSpPr txBox="1"/>
          <p:nvPr/>
        </p:nvSpPr>
        <p:spPr>
          <a:xfrm>
            <a:off x="98290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86;p19"/>
          <p:cNvSpPr txBox="1"/>
          <p:nvPr/>
        </p:nvSpPr>
        <p:spPr>
          <a:xfrm>
            <a:off x="2828343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87;p19"/>
          <p:cNvSpPr txBox="1"/>
          <p:nvPr/>
        </p:nvSpPr>
        <p:spPr>
          <a:xfrm>
            <a:off x="4587670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" name="Google Shape;88;p19"/>
          <p:cNvSpPr txBox="1"/>
          <p:nvPr/>
        </p:nvSpPr>
        <p:spPr>
          <a:xfrm>
            <a:off x="640705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писок в 2 колонки ">
  <p:cSld name="CUSTOM_8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1" name="Google Shape;91;p20"/>
          <p:cNvGraphicFramePr/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{6A1CCC24-04E4-4BCC-941A-B907F5E8BBCD}</a:tableStyleId>
              </a:tblPr>
              <a:tblGrid>
                <a:gridCol w="38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9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 Описание эксперимента</a:t>
                      </a:r>
                      <a:r>
                        <a:rPr lang="ru"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175">
                <a:tc>
                  <a:txBody>
                    <a:bodyPr/>
                    <a:lstStyle/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Ожидаемый результат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/>
                        <a:buChar char="●"/>
                      </a:pPr>
                      <a:r>
                        <a:rPr lang="ru"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сылка на источник" type="twoColTx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 ">
  <p:cSld name="CUSTOM_1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8" name="Google Shape;98;p23"/>
          <p:cNvGraphicFramePr/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{6A1CCC24-04E4-4BCC-941A-B907F5E8BBCD}</a:tableStyleId>
              </a:tblPr>
              <a:tblGrid>
                <a:gridCol w="39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плашки + иллюстрация">
  <p:cSld name="SECTION_TITLE_AND_DESCRIPTION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1" name="Google Shape;101;p24"/>
          <p:cNvSpPr/>
          <p:nvPr/>
        </p:nvSpPr>
        <p:spPr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" name="Google Shape;102;p24"/>
          <p:cNvSpPr/>
          <p:nvPr/>
        </p:nvSpPr>
        <p:spPr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" name="Google Shape;103;p24"/>
          <p:cNvSpPr/>
          <p:nvPr/>
        </p:nvSpPr>
        <p:spPr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5" name="Google Shape;10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блока">
  <p:cSld name="CUSTOM_7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6"/>
          <p:cNvSpPr/>
          <p:nvPr/>
        </p:nvSpPr>
        <p:spPr>
          <a:xfrm>
            <a:off x="932713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" name="Google Shape;111;p26"/>
          <p:cNvSpPr/>
          <p:nvPr/>
        </p:nvSpPr>
        <p:spPr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" name="Google Shape;112;p26"/>
          <p:cNvSpPr/>
          <p:nvPr/>
        </p:nvSpPr>
        <p:spPr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26"/>
          <p:cNvSpPr txBox="1"/>
          <p:nvPr/>
        </p:nvSpPr>
        <p:spPr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  <p:sp>
        <p:nvSpPr>
          <p:cNvPr id="115" name="Google Shape;115;p26"/>
          <p:cNvSpPr txBox="1"/>
          <p:nvPr/>
        </p:nvSpPr>
        <p:spPr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жный тезис крупным шрифтом " type="secHead">
  <p:cSld name="SECTION_HEADER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2" name="Google Shape;122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31"/>
          <p:cNvSpPr/>
          <p:nvPr/>
        </p:nvSpPr>
        <p:spPr>
          <a:xfrm>
            <a:off x="606200" y="1441163"/>
            <a:ext cx="7938600" cy="35649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31"/>
          <p:cNvSpPr txBox="1">
            <a:spLocks noGrp="1"/>
          </p:cNvSpPr>
          <p:nvPr>
            <p:ph type="subTitle" idx="1"/>
          </p:nvPr>
        </p:nvSpPr>
        <p:spPr>
          <a:xfrm>
            <a:off x="743675" y="1496071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_3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 1">
  <p:cSld name="CUSTOM_2_1_1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3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3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 1">
  <p:cSld name="CUSTOM_4_2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3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40" name="Google Shape;140;p3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3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9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6.xml"/><Relationship Id="rId6" Type="http://schemas.openxmlformats.org/officeDocument/2006/relationships/hyperlink" Target="mailto:i@rlopatin.ru" TargetMode="External"/><Relationship Id="rId5" Type="http://schemas.openxmlformats.org/officeDocument/2006/relationships/hyperlink" Target="https://t.me/Exsecrabili" TargetMode="External"/><Relationship Id="rId4" Type="http://schemas.openxmlformats.org/officeDocument/2006/relationships/hyperlink" Target="https://github.com/LopatinRoma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1"/>
          <a:stretch/>
        </p:blipFill>
        <p:spPr>
          <a:xfrm>
            <a:off x="-75950" y="-3216975"/>
            <a:ext cx="9408753" cy="836047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433125" y="1534950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t>HR Onboarding Hub (1С): онбординг через заявки, этапы, SLA и RabbitMQ</a:t>
            </a: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700" y="4138025"/>
            <a:ext cx="292050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886050" y="4127375"/>
            <a:ext cx="2407800" cy="4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t>OTUS «Архитектор 1С»</a:t>
            </a: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/>
          </p:nvPr>
        </p:nvSpPr>
        <p:spPr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>
            <a:spLocks noGrp="1"/>
          </p:cNvSpPr>
          <p:nvPr>
            <p:ph type="title"/>
          </p:nvPr>
        </p:nvSpPr>
        <p:spPr>
          <a:xfrm>
            <a:off x="500550" y="31362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dirty="0" err="1"/>
              <a:t>Защита</a:t>
            </a:r>
            <a:r>
              <a:rPr dirty="0"/>
              <a:t> </a:t>
            </a:r>
            <a:r>
              <a:rPr dirty="0" err="1"/>
              <a:t>проекта</a:t>
            </a:r>
            <a:endParaRPr dirty="0"/>
          </a:p>
          <a:p>
            <a:br>
              <a:rPr lang="en-US" dirty="0"/>
            </a:br>
            <a:r>
              <a:rPr dirty="0" err="1"/>
              <a:t>Тема</a:t>
            </a:r>
            <a:r>
              <a:rPr dirty="0"/>
              <a:t>:</a:t>
            </a:r>
            <a:r>
              <a:rPr lang="en-US" dirty="0"/>
              <a:t> HR Onboarding Hub</a:t>
            </a:r>
            <a:endParaRPr dirty="0"/>
          </a:p>
        </p:txBody>
      </p:sp>
      <p:pic>
        <p:nvPicPr>
          <p:cNvPr id="164" name="Google Shape;164;p37"/>
          <p:cNvPicPr preferRelativeResize="0"/>
          <p:nvPr/>
        </p:nvPicPr>
        <p:blipFill rotWithShape="1">
          <a:blip r:embed="rId3">
            <a:alphaModFix/>
          </a:blip>
          <a:srcRect t="30931" b="13765"/>
          <a:stretch/>
        </p:blipFill>
        <p:spPr>
          <a:xfrm>
            <a:off x="630000" y="2085726"/>
            <a:ext cx="2349900" cy="23187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66" name="Google Shape;166;p37"/>
          <p:cNvSpPr txBox="1"/>
          <p:nvPr/>
        </p:nvSpPr>
        <p:spPr>
          <a:xfrm>
            <a:off x="3899475" y="2893375"/>
            <a:ext cx="3193200" cy="1046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ru-RU" dirty="0"/>
              <a:t>Лопатин Роман Алексеевич </a:t>
            </a:r>
            <a:r>
              <a:rPr dirty="0" err="1"/>
              <a:t>Ведущий</a:t>
            </a:r>
            <a:r>
              <a:rPr dirty="0"/>
              <a:t> </a:t>
            </a:r>
            <a:r>
              <a:rPr dirty="0" err="1"/>
              <a:t>разработчик</a:t>
            </a:r>
            <a:r>
              <a:rPr dirty="0"/>
              <a:t> 1С </a:t>
            </a:r>
            <a:r>
              <a:rPr lang="ru-RU" dirty="0"/>
              <a:t>СПАО «Ингосстрах»</a:t>
            </a:r>
          </a:p>
          <a:p>
            <a:r>
              <a:rPr lang="ru-RU" dirty="0"/>
              <a:t>Более 5 лет в разработке 1С.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t>План защиты</a:t>
            </a:r>
          </a:p>
        </p:txBody>
      </p:sp>
      <p:sp>
        <p:nvSpPr>
          <p:cNvPr id="172" name="Google Shape;172;p38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t>1. Цель и задачи проекта</a:t>
            </a:r>
          </a:p>
        </p:txBody>
      </p:sp>
      <p:sp>
        <p:nvSpPr>
          <p:cNvPr id="173" name="Google Shape;173;p38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t>2. Архитектура и модель данных (C4/ER)</a:t>
            </a:r>
          </a:p>
        </p:txBody>
      </p:sp>
      <p:sp>
        <p:nvSpPr>
          <p:cNvPr id="174" name="Google Shape;174;p38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t>3. Интеграция RabbitMQ (команды/ответы)</a:t>
            </a:r>
          </a:p>
        </p:txBody>
      </p:sp>
      <p:sp>
        <p:nvSpPr>
          <p:cNvPr id="175" name="Google Shape;175;p38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t>4. UI и демонстрация процесса</a:t>
            </a:r>
          </a:p>
        </p:txBody>
      </p:sp>
      <p:cxnSp>
        <p:nvCxnSpPr>
          <p:cNvPr id="176" name="Google Shape;176;p38"/>
          <p:cNvCxnSpPr>
            <a:stCxn id="172" idx="1"/>
            <a:endCxn id="173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stCxn id="173" idx="1"/>
            <a:endCxn id="174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stCxn id="174" idx="1"/>
            <a:endCxn id="175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stCxn id="175" idx="1"/>
            <a:endCxn id="180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t>6. Вопросы и обратная связь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>
          <a:xfrm>
            <a:off x="393139" y="56173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sz="1800" dirty="0" err="1"/>
              <a:t>Цель</a:t>
            </a:r>
            <a:r>
              <a:rPr sz="1800" dirty="0"/>
              <a:t> и </a:t>
            </a:r>
            <a:r>
              <a:rPr sz="1800" dirty="0" err="1"/>
              <a:t>задачи</a:t>
            </a:r>
            <a:r>
              <a:rPr sz="1800" dirty="0"/>
              <a:t> </a:t>
            </a:r>
            <a:r>
              <a:rPr sz="1800" dirty="0" err="1"/>
              <a:t>проекта</a:t>
            </a:r>
            <a:endParaRPr sz="1800" dirty="0"/>
          </a:p>
        </p:txBody>
      </p:sp>
      <p:sp>
        <p:nvSpPr>
          <p:cNvPr id="187" name="Google Shape;187;p39"/>
          <p:cNvSpPr/>
          <p:nvPr/>
        </p:nvSpPr>
        <p:spPr>
          <a:xfrm>
            <a:off x="393139" y="653740"/>
            <a:ext cx="8276905" cy="3659739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algn="just"/>
            <a:r>
              <a:rPr dirty="0" err="1"/>
              <a:t>Цель</a:t>
            </a:r>
            <a:r>
              <a:rPr dirty="0"/>
              <a:t>: </a:t>
            </a:r>
            <a:r>
              <a:rPr dirty="0" err="1"/>
              <a:t>автоматизировать</a:t>
            </a:r>
            <a:r>
              <a:rPr dirty="0"/>
              <a:t> </a:t>
            </a:r>
            <a:r>
              <a:rPr dirty="0" err="1"/>
              <a:t>онбординг</a:t>
            </a:r>
            <a:r>
              <a:rPr dirty="0"/>
              <a:t> </a:t>
            </a:r>
            <a:r>
              <a:rPr dirty="0" err="1"/>
              <a:t>сотрудника</a:t>
            </a:r>
            <a:r>
              <a:rPr dirty="0"/>
              <a:t> </a:t>
            </a:r>
            <a:r>
              <a:rPr dirty="0" err="1"/>
              <a:t>через</a:t>
            </a:r>
            <a:r>
              <a:rPr dirty="0"/>
              <a:t> </a:t>
            </a:r>
            <a:r>
              <a:rPr dirty="0" err="1"/>
              <a:t>заявку</a:t>
            </a:r>
            <a:r>
              <a:rPr dirty="0"/>
              <a:t> HR и </a:t>
            </a:r>
            <a:r>
              <a:rPr dirty="0" err="1"/>
              <a:t>набор</a:t>
            </a:r>
            <a:r>
              <a:rPr dirty="0"/>
              <a:t> </a:t>
            </a:r>
            <a:r>
              <a:rPr dirty="0" err="1"/>
              <a:t>этапов</a:t>
            </a:r>
            <a:r>
              <a:rPr dirty="0"/>
              <a:t> с </a:t>
            </a:r>
            <a:r>
              <a:rPr dirty="0" err="1"/>
              <a:t>контролем</a:t>
            </a:r>
            <a:r>
              <a:rPr dirty="0"/>
              <a:t> SLA и </a:t>
            </a:r>
            <a:r>
              <a:rPr dirty="0" err="1"/>
              <a:t>интеграцией</a:t>
            </a:r>
            <a:r>
              <a:rPr dirty="0"/>
              <a:t> </a:t>
            </a:r>
            <a:r>
              <a:rPr dirty="0" err="1"/>
              <a:t>через</a:t>
            </a:r>
            <a:r>
              <a:rPr dirty="0"/>
              <a:t> RabbitMQ.</a:t>
            </a:r>
            <a:endParaRPr lang="ru-RU" dirty="0"/>
          </a:p>
          <a:p>
            <a:pPr algn="just"/>
            <a:endParaRPr lang="ru-RU" dirty="0"/>
          </a:p>
          <a:p>
            <a:pPr algn="just"/>
            <a:endParaRPr lang="ru-RU" dirty="0"/>
          </a:p>
          <a:p>
            <a:pPr algn="just"/>
            <a:endParaRPr lang="ru-RU" dirty="0"/>
          </a:p>
          <a:p>
            <a:pPr algn="just"/>
            <a:endParaRPr lang="ru-RU" dirty="0"/>
          </a:p>
          <a:p>
            <a:pPr algn="just"/>
            <a:endParaRPr lang="ru-RU" dirty="0"/>
          </a:p>
          <a:p>
            <a:pPr algn="just"/>
            <a:endParaRPr dirty="0"/>
          </a:p>
          <a:p>
            <a:r>
              <a:rPr dirty="0" err="1"/>
              <a:t>Задачи</a:t>
            </a:r>
            <a:r>
              <a:rPr dirty="0"/>
              <a:t>:</a:t>
            </a:r>
          </a:p>
          <a:p>
            <a:r>
              <a:rPr dirty="0"/>
              <a:t>• </a:t>
            </a:r>
            <a:r>
              <a:rPr dirty="0" err="1"/>
              <a:t>Создание</a:t>
            </a:r>
            <a:r>
              <a:rPr dirty="0"/>
              <a:t> </a:t>
            </a:r>
            <a:r>
              <a:rPr dirty="0" err="1"/>
              <a:t>заявки</a:t>
            </a:r>
            <a:r>
              <a:rPr dirty="0"/>
              <a:t> и </a:t>
            </a:r>
            <a:r>
              <a:rPr dirty="0" err="1"/>
              <a:t>этапов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пакету</a:t>
            </a:r>
            <a:r>
              <a:rPr dirty="0"/>
              <a:t> </a:t>
            </a:r>
            <a:r>
              <a:rPr dirty="0" err="1"/>
              <a:t>доступов</a:t>
            </a:r>
            <a:endParaRPr dirty="0"/>
          </a:p>
          <a:p>
            <a:r>
              <a:rPr dirty="0"/>
              <a:t>• </a:t>
            </a:r>
            <a:r>
              <a:rPr dirty="0" err="1"/>
              <a:t>Управление</a:t>
            </a:r>
            <a:r>
              <a:rPr dirty="0"/>
              <a:t> </a:t>
            </a:r>
            <a:r>
              <a:rPr dirty="0" err="1"/>
              <a:t>статусами</a:t>
            </a:r>
            <a:r>
              <a:rPr dirty="0"/>
              <a:t> </a:t>
            </a:r>
            <a:r>
              <a:rPr dirty="0" err="1"/>
              <a:t>заявки</a:t>
            </a:r>
            <a:r>
              <a:rPr dirty="0"/>
              <a:t>/</a:t>
            </a:r>
            <a:r>
              <a:rPr dirty="0" err="1"/>
              <a:t>этапов</a:t>
            </a:r>
            <a:r>
              <a:rPr dirty="0"/>
              <a:t> и </a:t>
            </a:r>
            <a:r>
              <a:rPr dirty="0" err="1"/>
              <a:t>дедлайнами</a:t>
            </a:r>
            <a:endParaRPr dirty="0"/>
          </a:p>
          <a:p>
            <a:r>
              <a:rPr dirty="0"/>
              <a:t>• </a:t>
            </a:r>
            <a:r>
              <a:rPr dirty="0" err="1"/>
              <a:t>Обмен</a:t>
            </a:r>
            <a:r>
              <a:rPr dirty="0"/>
              <a:t> </a:t>
            </a:r>
            <a:r>
              <a:rPr dirty="0" err="1"/>
              <a:t>командами</a:t>
            </a:r>
            <a:r>
              <a:rPr dirty="0"/>
              <a:t>/</a:t>
            </a:r>
            <a:r>
              <a:rPr dirty="0" err="1"/>
              <a:t>ответами</a:t>
            </a:r>
            <a:r>
              <a:rPr dirty="0"/>
              <a:t> </a:t>
            </a:r>
            <a:r>
              <a:rPr dirty="0" err="1"/>
              <a:t>через</a:t>
            </a:r>
            <a:r>
              <a:rPr dirty="0"/>
              <a:t> RabbitMQ</a:t>
            </a:r>
          </a:p>
          <a:p>
            <a:r>
              <a:rPr dirty="0"/>
              <a:t>• UI: </a:t>
            </a:r>
            <a:r>
              <a:rPr dirty="0" err="1"/>
              <a:t>форма</a:t>
            </a:r>
            <a:r>
              <a:rPr dirty="0"/>
              <a:t> </a:t>
            </a:r>
            <a:r>
              <a:rPr dirty="0" err="1"/>
              <a:t>заявки</a:t>
            </a:r>
            <a:r>
              <a:rPr dirty="0"/>
              <a:t> + </a:t>
            </a:r>
            <a:r>
              <a:rPr dirty="0" err="1"/>
              <a:t>рабочее</a:t>
            </a:r>
            <a:r>
              <a:rPr dirty="0"/>
              <a:t> </a:t>
            </a:r>
            <a:r>
              <a:rPr dirty="0" err="1"/>
              <a:t>место</a:t>
            </a:r>
            <a:r>
              <a:rPr dirty="0"/>
              <a:t> HR</a:t>
            </a:r>
          </a:p>
          <a:p>
            <a:r>
              <a:rPr dirty="0"/>
              <a:t>• </a:t>
            </a:r>
            <a:r>
              <a:rPr dirty="0" err="1"/>
              <a:t>Автотесты</a:t>
            </a:r>
            <a:r>
              <a:rPr dirty="0"/>
              <a:t> (</a:t>
            </a:r>
            <a:r>
              <a:rPr dirty="0" err="1"/>
              <a:t>Yaxunit</a:t>
            </a:r>
            <a:r>
              <a:rPr dirty="0"/>
              <a:t>, Vanessa) и </a:t>
            </a:r>
            <a:r>
              <a:rPr dirty="0" err="1"/>
              <a:t>документация</a:t>
            </a:r>
            <a:r>
              <a:rPr dirty="0"/>
              <a:t> (BPMN/C4/ER)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Какие технологии использовались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199" name="Google Shape;199;p40"/>
          <p:cNvGraphicFramePr/>
          <p:nvPr/>
        </p:nvGraphicFramePr>
        <p:xfrm>
          <a:off x="952500" y="1897775"/>
          <a:ext cx="7239000" cy="1981050"/>
        </p:xfrm>
        <a:graphic>
          <a:graphicData uri="http://schemas.openxmlformats.org/drawingml/2006/table">
            <a:tbl>
              <a:tblPr>
                <a:noFill/>
                <a:tableStyleId>{6A1CCC24-04E4-4BCC-941A-B907F5E8BBCD}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t>1.</a:t>
                      </a: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1С:Предприятие 8.3 (</a:t>
                      </a:r>
                      <a:r>
                        <a:rPr dirty="0" err="1"/>
                        <a:t>управляемые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формы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метаданные</a:t>
                      </a:r>
                      <a:r>
                        <a:rPr dirty="0"/>
                        <a:t>)</a:t>
                      </a: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t>2.</a:t>
                      </a: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RabbitMQ в Docker + Traefik (reverse proxy, TLS)</a:t>
                      </a: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t>3.</a:t>
                      </a: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PinkRabbitMQ (внешняя компонента 1С, AMQP)</a:t>
                      </a: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t>4.</a:t>
                      </a: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Автотесты: Yaxunit + Vanessa Automation</a:t>
                      </a: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t>5.</a:t>
                      </a: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 err="1"/>
                        <a:t>Документация</a:t>
                      </a:r>
                      <a:r>
                        <a:rPr dirty="0"/>
                        <a:t>: </a:t>
                      </a:r>
                      <a:r>
                        <a:rPr dirty="0" err="1"/>
                        <a:t>PlantUML</a:t>
                      </a:r>
                      <a:r>
                        <a:rPr dirty="0"/>
                        <a:t> (C4/ER), BPMN; GitLab CI</a:t>
                      </a: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Что получилось</a:t>
            </a:r>
            <a:endParaRPr sz="3000"/>
          </a:p>
        </p:txBody>
      </p:sp>
      <p:grpSp>
        <p:nvGrpSpPr>
          <p:cNvPr id="205" name="Google Shape;205;p41"/>
          <p:cNvGrpSpPr/>
          <p:nvPr/>
        </p:nvGrpSpPr>
        <p:grpSpPr>
          <a:xfrm>
            <a:off x="564918" y="990703"/>
            <a:ext cx="8267365" cy="2342014"/>
            <a:chOff x="422658" y="752750"/>
            <a:chExt cx="8034368" cy="2183289"/>
          </a:xfrm>
        </p:grpSpPr>
        <p:pic>
          <p:nvPicPr>
            <p:cNvPr id="206" name="Google Shape;206;p4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450575" y="752750"/>
              <a:ext cx="5006451" cy="2031050"/>
            </a:xfrm>
            <a:prstGeom prst="rect">
              <a:avLst/>
            </a:prstGeom>
            <a:noFill/>
            <a:ln>
              <a:noFill/>
            </a:ln>
            <a:effectLst>
              <a:outerShdw blurRad="200025" dist="28575" dir="4200000" algn="bl" rotWithShape="0">
                <a:srgbClr val="000000">
                  <a:alpha val="30000"/>
                </a:srgbClr>
              </a:outerShdw>
            </a:effectLst>
          </p:spPr>
        </p:pic>
        <p:sp>
          <p:nvSpPr>
            <p:cNvPr id="207" name="Google Shape;207;p41"/>
            <p:cNvSpPr txBox="1"/>
            <p:nvPr/>
          </p:nvSpPr>
          <p:spPr>
            <a:xfrm>
              <a:off x="422658" y="956335"/>
              <a:ext cx="7841909" cy="197970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r>
                <a:rPr sz="1800" dirty="0" err="1"/>
                <a:t>Ключевой</a:t>
              </a:r>
              <a:r>
                <a:rPr sz="1800" dirty="0"/>
                <a:t> </a:t>
              </a:r>
              <a:r>
                <a:rPr sz="1800" dirty="0" err="1"/>
                <a:t>результат</a:t>
              </a:r>
              <a:r>
                <a:rPr sz="1800" dirty="0"/>
                <a:t> MVP:</a:t>
              </a:r>
            </a:p>
            <a:p>
              <a:r>
                <a:rPr sz="1800" dirty="0"/>
                <a:t>• </a:t>
              </a:r>
              <a:r>
                <a:rPr sz="1800" dirty="0" err="1"/>
                <a:t>Заявка</a:t>
              </a:r>
              <a:r>
                <a:rPr sz="1800" dirty="0"/>
                <a:t> </a:t>
              </a:r>
              <a:r>
                <a:rPr sz="1800" dirty="0" err="1"/>
                <a:t>онбординга</a:t>
              </a:r>
              <a:r>
                <a:rPr sz="1800" dirty="0"/>
                <a:t> (</a:t>
              </a:r>
              <a:r>
                <a:rPr sz="1800" dirty="0" err="1"/>
                <a:t>документ</a:t>
              </a:r>
              <a:r>
                <a:rPr sz="1800" dirty="0"/>
                <a:t>) + </a:t>
              </a:r>
              <a:r>
                <a:rPr sz="1800" dirty="0" err="1"/>
                <a:t>этапы</a:t>
              </a:r>
              <a:r>
                <a:rPr sz="1800" dirty="0"/>
                <a:t> (РС) + SLA/</a:t>
              </a:r>
              <a:r>
                <a:rPr sz="1800" dirty="0" err="1"/>
                <a:t>просрочки</a:t>
              </a:r>
              <a:endParaRPr sz="1800" dirty="0"/>
            </a:p>
            <a:p>
              <a:r>
                <a:rPr sz="1800" dirty="0"/>
                <a:t>• </a:t>
              </a:r>
              <a:r>
                <a:rPr sz="1800" dirty="0" err="1"/>
                <a:t>Интеграция</a:t>
              </a:r>
              <a:r>
                <a:rPr sz="1800" dirty="0"/>
                <a:t> RabbitMQ: </a:t>
              </a:r>
              <a:r>
                <a:rPr sz="1800" dirty="0" err="1"/>
                <a:t>публикация</a:t>
              </a:r>
              <a:r>
                <a:rPr sz="1800" dirty="0"/>
                <a:t> </a:t>
              </a:r>
              <a:r>
                <a:rPr sz="1800" dirty="0" err="1"/>
                <a:t>команд</a:t>
              </a:r>
              <a:r>
                <a:rPr sz="1800" dirty="0"/>
                <a:t> и </a:t>
              </a:r>
              <a:r>
                <a:rPr sz="1800" dirty="0" err="1"/>
                <a:t>обработка</a:t>
              </a:r>
              <a:r>
                <a:rPr sz="1800" dirty="0"/>
                <a:t> </a:t>
              </a:r>
              <a:r>
                <a:rPr sz="1800" dirty="0" err="1"/>
                <a:t>ответов</a:t>
              </a:r>
              <a:r>
                <a:rPr sz="1800" dirty="0"/>
                <a:t> (AMQP)</a:t>
              </a:r>
            </a:p>
            <a:p>
              <a:r>
                <a:rPr sz="1800" dirty="0"/>
                <a:t>• UI: </a:t>
              </a:r>
              <a:r>
                <a:rPr sz="1800" dirty="0" err="1"/>
                <a:t>форма</a:t>
              </a:r>
              <a:r>
                <a:rPr sz="1800" dirty="0"/>
                <a:t> </a:t>
              </a:r>
              <a:r>
                <a:rPr sz="1800" dirty="0" err="1"/>
                <a:t>заявки</a:t>
              </a:r>
              <a:r>
                <a:rPr sz="1800" dirty="0"/>
                <a:t> + </a:t>
              </a:r>
              <a:r>
                <a:rPr sz="1800" dirty="0" err="1"/>
                <a:t>рабочее</a:t>
              </a:r>
              <a:r>
                <a:rPr sz="1800" dirty="0"/>
                <a:t> </a:t>
              </a:r>
              <a:r>
                <a:rPr sz="1800" dirty="0" err="1"/>
                <a:t>место</a:t>
              </a:r>
              <a:r>
                <a:rPr sz="1800" dirty="0"/>
                <a:t> HR (</a:t>
              </a:r>
              <a:r>
                <a:rPr sz="1800" dirty="0" err="1"/>
                <a:t>прогресс</a:t>
              </a:r>
              <a:r>
                <a:rPr sz="1800" dirty="0"/>
                <a:t>, </a:t>
              </a:r>
              <a:r>
                <a:rPr sz="1800" dirty="0" err="1"/>
                <a:t>этапы</a:t>
              </a:r>
              <a:r>
                <a:rPr sz="1800" dirty="0"/>
                <a:t>, </a:t>
              </a:r>
              <a:r>
                <a:rPr sz="1800" dirty="0" err="1"/>
                <a:t>ошибки</a:t>
              </a:r>
              <a:r>
                <a:rPr sz="1800" dirty="0"/>
                <a:t>)</a:t>
              </a:r>
            </a:p>
            <a:p>
              <a:r>
                <a:rPr sz="1800" dirty="0"/>
                <a:t>• </a:t>
              </a:r>
              <a:r>
                <a:rPr sz="1800" dirty="0" err="1"/>
                <a:t>Автотесты</a:t>
              </a:r>
              <a:r>
                <a:rPr sz="1800" dirty="0"/>
                <a:t>: unit (</a:t>
              </a:r>
              <a:r>
                <a:rPr sz="1800" dirty="0" err="1"/>
                <a:t>Yaxunit</a:t>
              </a:r>
              <a:r>
                <a:rPr sz="1800" dirty="0"/>
                <a:t>) + </a:t>
              </a:r>
              <a:r>
                <a:rPr sz="1800" dirty="0" err="1"/>
                <a:t>сценарии</a:t>
              </a:r>
              <a:r>
                <a:rPr sz="1800" dirty="0"/>
                <a:t> UI/E2E (Vanessa)</a:t>
              </a:r>
            </a:p>
            <a:p>
              <a:r>
                <a:rPr sz="1800" dirty="0"/>
                <a:t>• </a:t>
              </a:r>
              <a:r>
                <a:rPr sz="1800" dirty="0" err="1"/>
                <a:t>Документация</a:t>
              </a:r>
              <a:r>
                <a:rPr sz="1800" dirty="0"/>
                <a:t>: BPMN, C4, ER, </a:t>
              </a:r>
              <a:r>
                <a:rPr sz="1800" dirty="0" err="1"/>
                <a:t>контракт</a:t>
              </a:r>
              <a:r>
                <a:rPr sz="1800" dirty="0"/>
                <a:t> </a:t>
              </a:r>
              <a:r>
                <a:rPr sz="1800" dirty="0" err="1"/>
                <a:t>сообщений</a:t>
              </a:r>
              <a:endParaRPr sz="1800" dirty="0"/>
            </a:p>
            <a:p>
              <a:endParaRPr sz="18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6580FD-7683-15E8-6367-D8601FA5F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Рабочее место и основной документ </a:t>
            </a:r>
            <a:r>
              <a:rPr lang="en-US" dirty="0"/>
              <a:t>HR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9927B17-50BE-5736-1BFE-02290944E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729" y="1148952"/>
            <a:ext cx="5639813" cy="179053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E848AC2-74E2-D53C-E3A9-45BAD17D60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958" y="1955841"/>
            <a:ext cx="4404571" cy="2038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6122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620121-D1A9-AAF2-4F1D-912EFF9B8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RabbitMQ (queues / message payload)</a:t>
            </a:r>
            <a:br>
              <a:rPr lang="en-US" dirty="0"/>
            </a:br>
            <a:br>
              <a:rPr lang="ru-RU" dirty="0"/>
            </a:b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5547769-9571-5D22-4B9B-C5C6184283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4C077A4-CE23-84CA-DF1F-87AD893E01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550" y="1042167"/>
            <a:ext cx="7327115" cy="209839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338929C-121B-E160-C805-926432EEA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6335" y="1902771"/>
            <a:ext cx="7138065" cy="173209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6F60045-C712-A625-5F79-3CF5D6E98A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4880" y="2138067"/>
            <a:ext cx="2810466" cy="2301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512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7B9EF3-0F3A-EB4E-7B52-610F03549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Отчёт </a:t>
            </a:r>
            <a:r>
              <a:rPr lang="ru-RU" dirty="0" err="1"/>
              <a:t>автотестов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E3E560A-541C-ACE0-A115-8C981B7EA1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6D97CA5-6EE9-7621-0B02-E61B4F2951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085" y="1016627"/>
            <a:ext cx="3829302" cy="364813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4A5250D-305E-DAE1-67B9-30491CFFEB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7306" y="1483689"/>
            <a:ext cx="5493844" cy="3359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2449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/>
              <a:t>Выводы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pSp>
        <p:nvGrpSpPr>
          <p:cNvPr id="214" name="Google Shape;214;p42"/>
          <p:cNvGrpSpPr/>
          <p:nvPr/>
        </p:nvGrpSpPr>
        <p:grpSpPr>
          <a:xfrm>
            <a:off x="3588947" y="63190"/>
            <a:ext cx="5596901" cy="2335504"/>
            <a:chOff x="4702612" y="176595"/>
            <a:chExt cx="3413161" cy="1399343"/>
          </a:xfrm>
        </p:grpSpPr>
        <p:pic>
          <p:nvPicPr>
            <p:cNvPr id="215" name="Google Shape;215;p42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702612" y="176595"/>
              <a:ext cx="3375207" cy="1399343"/>
            </a:xfrm>
            <a:prstGeom prst="rect">
              <a:avLst/>
            </a:prstGeom>
            <a:noFill/>
            <a:ln>
              <a:noFill/>
            </a:ln>
            <a:effectLst>
              <a:outerShdw blurRad="200025" dist="28575" dir="4200000" algn="bl" rotWithShape="0">
                <a:srgbClr val="000000">
                  <a:alpha val="30000"/>
                </a:srgbClr>
              </a:outerShdw>
            </a:effectLst>
          </p:spPr>
        </p:pic>
        <p:sp>
          <p:nvSpPr>
            <p:cNvPr id="216" name="Google Shape;216;p42"/>
            <p:cNvSpPr txBox="1"/>
            <p:nvPr/>
          </p:nvSpPr>
          <p:spPr>
            <a:xfrm>
              <a:off x="5246273" y="503278"/>
              <a:ext cx="2869500" cy="1023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r>
                <a:rPr dirty="0" err="1"/>
                <a:t>Дальнейшие</a:t>
              </a:r>
              <a:r>
                <a:rPr dirty="0"/>
                <a:t> </a:t>
              </a:r>
              <a:r>
                <a:rPr dirty="0" err="1"/>
                <a:t>улучшения</a:t>
              </a:r>
              <a:r>
                <a:rPr dirty="0"/>
                <a:t> (</a:t>
              </a:r>
              <a:r>
                <a:rPr dirty="0" err="1"/>
                <a:t>после</a:t>
              </a:r>
              <a:r>
                <a:rPr dirty="0"/>
                <a:t> MVP): </a:t>
              </a:r>
              <a:r>
                <a:rPr dirty="0" err="1"/>
                <a:t>расширить</a:t>
              </a:r>
              <a:r>
                <a:rPr dirty="0"/>
                <a:t> </a:t>
              </a:r>
              <a:r>
                <a:rPr dirty="0" err="1"/>
                <a:t>покрытие</a:t>
              </a:r>
              <a:r>
                <a:rPr dirty="0"/>
                <a:t> E2E, </a:t>
              </a:r>
              <a:r>
                <a:rPr dirty="0" err="1"/>
                <a:t>добавить</a:t>
              </a:r>
              <a:r>
                <a:rPr dirty="0"/>
                <a:t> </a:t>
              </a:r>
              <a:r>
                <a:rPr dirty="0" err="1"/>
                <a:t>роли</a:t>
              </a:r>
              <a:r>
                <a:rPr dirty="0"/>
                <a:t>/</a:t>
              </a:r>
              <a:r>
                <a:rPr dirty="0" err="1"/>
                <a:t>права</a:t>
              </a:r>
              <a:r>
                <a:rPr dirty="0"/>
                <a:t>, </a:t>
              </a:r>
              <a:r>
                <a:rPr dirty="0" err="1"/>
                <a:t>мониторинг</a:t>
              </a:r>
              <a:r>
                <a:rPr dirty="0"/>
                <a:t> </a:t>
              </a:r>
              <a:r>
                <a:rPr dirty="0" err="1"/>
                <a:t>очередей</a:t>
              </a:r>
              <a:r>
                <a:rPr dirty="0"/>
                <a:t> и </a:t>
              </a:r>
              <a:r>
                <a:rPr dirty="0" err="1"/>
                <a:t>отчёт</a:t>
              </a:r>
              <a:r>
                <a:rPr dirty="0"/>
                <a:t> </a:t>
              </a:r>
              <a:r>
                <a:rPr dirty="0" err="1"/>
                <a:t>по</a:t>
              </a:r>
              <a:r>
                <a:rPr dirty="0"/>
                <a:t> SLA.</a:t>
              </a:r>
            </a:p>
          </p:txBody>
        </p:sp>
      </p:grp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1586744978"/>
              </p:ext>
            </p:extLst>
          </p:nvPr>
        </p:nvGraphicFramePr>
        <p:xfrm>
          <a:off x="727491" y="2364704"/>
          <a:ext cx="7239000" cy="2224920"/>
        </p:xfrm>
        <a:graphic>
          <a:graphicData uri="http://schemas.openxmlformats.org/drawingml/2006/table">
            <a:tbl>
              <a:tblPr>
                <a:noFill/>
                <a:tableStyleId>{6A1CCC24-04E4-4BCC-941A-B907F5E8BBCD}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t>1.</a:t>
                      </a: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MVP </a:t>
                      </a:r>
                      <a:r>
                        <a:rPr dirty="0" err="1"/>
                        <a:t>закрывает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полный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цикл</a:t>
                      </a:r>
                      <a:r>
                        <a:rPr dirty="0"/>
                        <a:t>: </a:t>
                      </a:r>
                      <a:r>
                        <a:rPr dirty="0" err="1"/>
                        <a:t>заявка</a:t>
                      </a:r>
                      <a:r>
                        <a:rPr dirty="0"/>
                        <a:t> → </a:t>
                      </a:r>
                      <a:r>
                        <a:rPr dirty="0" err="1"/>
                        <a:t>этапы</a:t>
                      </a:r>
                      <a:r>
                        <a:rPr dirty="0"/>
                        <a:t> → </a:t>
                      </a:r>
                      <a:r>
                        <a:rPr dirty="0" err="1"/>
                        <a:t>интеграция</a:t>
                      </a:r>
                      <a:r>
                        <a:rPr dirty="0"/>
                        <a:t> → </a:t>
                      </a:r>
                      <a:r>
                        <a:rPr dirty="0" err="1"/>
                        <a:t>контроль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статусов</a:t>
                      </a:r>
                      <a:r>
                        <a:rPr dirty="0"/>
                        <a:t>.</a:t>
                      </a: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t>2.</a:t>
                      </a: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 err="1"/>
                        <a:t>Интеграция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трассируется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по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correlation_id</a:t>
                      </a:r>
                      <a:r>
                        <a:rPr dirty="0"/>
                        <a:t>/</a:t>
                      </a:r>
                      <a:r>
                        <a:rPr dirty="0" err="1"/>
                        <a:t>request_id</a:t>
                      </a:r>
                      <a:r>
                        <a:rPr dirty="0"/>
                        <a:t>; </a:t>
                      </a:r>
                      <a:r>
                        <a:rPr dirty="0" err="1"/>
                        <a:t>есть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обработка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ошибок</a:t>
                      </a:r>
                      <a:r>
                        <a:rPr dirty="0"/>
                        <a:t> и </a:t>
                      </a:r>
                      <a:r>
                        <a:rPr dirty="0" err="1"/>
                        <a:t>повтор</a:t>
                      </a:r>
                      <a:r>
                        <a:rPr dirty="0"/>
                        <a:t>.</a:t>
                      </a: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t>3.</a:t>
                      </a: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Проект готов к расширению: оффбординг, роли/права, отчёты SLA, мониторинг.</a:t>
                      </a: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8999" y="1932525"/>
            <a:ext cx="8079343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dirty="0" err="1"/>
              <a:t>Спасибо</a:t>
            </a:r>
            <a:r>
              <a:rPr dirty="0"/>
              <a:t> </a:t>
            </a:r>
            <a:r>
              <a:rPr dirty="0" err="1"/>
              <a:t>за</a:t>
            </a:r>
            <a:r>
              <a:rPr dirty="0"/>
              <a:t> </a:t>
            </a:r>
            <a:r>
              <a:rPr dirty="0" err="1"/>
              <a:t>внимание</a:t>
            </a:r>
            <a:r>
              <a:rPr dirty="0"/>
              <a:t>!</a:t>
            </a:r>
          </a:p>
          <a:p>
            <a:r>
              <a:rPr lang="en-US" dirty="0">
                <a:solidFill>
                  <a:schemeClr val="bg1"/>
                </a:solidFill>
                <a:hlinkClick r:id="rId4"/>
              </a:rPr>
              <a:t>https://github.com/LopatinRoman </a:t>
            </a:r>
            <a:r>
              <a:rPr lang="en-US" dirty="0">
                <a:solidFill>
                  <a:schemeClr val="bg1"/>
                </a:solidFill>
              </a:rPr>
              <a:t>/ GitHub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  <a:hlinkClick r:id="rId5"/>
              </a:rPr>
              <a:t>@ExsecrabiIi</a:t>
            </a:r>
            <a:r>
              <a:rPr lang="en-US" dirty="0">
                <a:solidFill>
                  <a:schemeClr val="bg1"/>
                </a:solidFill>
              </a:rPr>
              <a:t> / </a:t>
            </a:r>
            <a:r>
              <a:rPr dirty="0">
                <a:solidFill>
                  <a:schemeClr val="bg1"/>
                </a:solidFill>
              </a:rPr>
              <a:t>TELEGRAM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  <a:hlinkClick r:id="rId6"/>
              </a:rPr>
              <a:t>i@rlopatin.ru</a:t>
            </a:r>
            <a:r>
              <a:rPr lang="en-US" dirty="0">
                <a:solidFill>
                  <a:schemeClr val="bg1"/>
                </a:solidFill>
              </a:rPr>
              <a:t> / </a:t>
            </a:r>
            <a:r>
              <a:rPr dirty="0">
                <a:solidFill>
                  <a:schemeClr val="bg1"/>
                </a:solidFill>
              </a:rPr>
              <a:t>EMAIL</a:t>
            </a: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418</Words>
  <Application>Microsoft Office PowerPoint</Application>
  <PresentationFormat>Экран (16:9)</PresentationFormat>
  <Paragraphs>59</Paragraphs>
  <Slides>12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12</vt:i4>
      </vt:variant>
    </vt:vector>
  </HeadingPairs>
  <TitlesOfParts>
    <vt:vector size="18" baseType="lpstr">
      <vt:lpstr>Arial</vt:lpstr>
      <vt:lpstr>Courier New</vt:lpstr>
      <vt:lpstr>Roboto</vt:lpstr>
      <vt:lpstr>Светлая тема</vt:lpstr>
      <vt:lpstr>Светлая тема</vt:lpstr>
      <vt:lpstr>Светлая тема</vt:lpstr>
      <vt:lpstr>Презентация PowerPoint</vt:lpstr>
      <vt:lpstr>Меня хорошо видно &amp; слышно?</vt:lpstr>
      <vt:lpstr>Защита проекта  Тема: HR Onboarding Hub</vt:lpstr>
      <vt:lpstr>План защиты</vt:lpstr>
      <vt:lpstr>Презентация PowerPoint</vt:lpstr>
      <vt:lpstr>Какие технологии использовались </vt:lpstr>
      <vt:lpstr>Что получилось</vt:lpstr>
      <vt:lpstr>Рабочее место и основной документ HR</vt:lpstr>
      <vt:lpstr>RabbitMQ (queues / message payload)  </vt:lpstr>
      <vt:lpstr>Отчёт автотестов</vt:lpstr>
      <vt:lpstr>Выводы </vt:lpstr>
      <vt:lpstr>Спасибо за внимание! https://github.com/LopatinRoman / GitHub @ExsecrabiIi / TELEGRAM  i@rlopatin.ru / EMAIL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Roman Lopatin</cp:lastModifiedBy>
  <cp:revision>2</cp:revision>
  <dcterms:modified xsi:type="dcterms:W3CDTF">2026-03-02T06:25:52Z</dcterms:modified>
</cp:coreProperties>
</file>